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arlow Semi-Bold" charset="1" panose="00000700000000000000"/>
      <p:regular r:id="rId25"/>
    </p:embeddedFont>
    <p:embeddedFont>
      <p:font typeface="Barlow" charset="1" panose="00000500000000000000"/>
      <p:regular r:id="rId26"/>
    </p:embeddedFont>
    <p:embeddedFont>
      <p:font typeface="Arimo Bold" charset="1" panose="020B0704020202020204"/>
      <p:regular r:id="rId27"/>
    </p:embeddedFont>
    <p:embeddedFont>
      <p:font typeface="Barlow Bold" charset="1" panose="00000800000000000000"/>
      <p:regular r:id="rId28"/>
    </p:embeddedFont>
    <p:embeddedFont>
      <p:font typeface="Canva Sans Medium" charset="1" panose="020B0603030501040103"/>
      <p:regular r:id="rId29"/>
    </p:embeddedFont>
    <p:embeddedFont>
      <p:font typeface="Barlow Bold Italics" charset="1" panose="00000800000000000000"/>
      <p:regular r:id="rId30"/>
    </p:embeddedFont>
    <p:embeddedFont>
      <p:font typeface="Barlow Italic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17987"/>
            <a:ext cx="12671885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AI-</a:t>
            </a:r>
            <a:r>
              <a:rPr lang="en-US" b="true" sz="6200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Powered Multimodal Contactless Patient Monitoring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91582">
            <a:off x="13219273" y="-1371032"/>
            <a:ext cx="6287330" cy="7129962"/>
          </a:xfrm>
          <a:custGeom>
            <a:avLst/>
            <a:gdLst/>
            <a:ahLst/>
            <a:cxnLst/>
            <a:rect r="r" b="b" t="t" l="l"/>
            <a:pathLst>
              <a:path h="7129962" w="6287330">
                <a:moveTo>
                  <a:pt x="0" y="0"/>
                </a:moveTo>
                <a:lnTo>
                  <a:pt x="6287331" y="0"/>
                </a:lnTo>
                <a:lnTo>
                  <a:pt x="6287331" y="7129962"/>
                </a:lnTo>
                <a:lnTo>
                  <a:pt x="0" y="712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726171"/>
            <a:ext cx="11476994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3502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U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sin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g th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e Hos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pital Bed a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s an Unobtr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usiv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e Sensin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g Pl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at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f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o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rm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6183246"/>
            <a:ext cx="12363074" cy="19050"/>
          </a:xfrm>
          <a:prstGeom prst="line">
            <a:avLst/>
          </a:prstGeom>
          <a:ln cap="flat" w="38100">
            <a:solidFill>
              <a:srgbClr val="2A2E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063590" y="-1877456"/>
            <a:ext cx="4391419" cy="4979960"/>
          </a:xfrm>
          <a:custGeom>
            <a:avLst/>
            <a:gdLst/>
            <a:ahLst/>
            <a:cxnLst/>
            <a:rect r="r" b="b" t="t" l="l"/>
            <a:pathLst>
              <a:path h="4979960" w="4391419">
                <a:moveTo>
                  <a:pt x="0" y="0"/>
                </a:moveTo>
                <a:lnTo>
                  <a:pt x="4391420" y="0"/>
                </a:lnTo>
                <a:lnTo>
                  <a:pt x="4391420" y="4979960"/>
                </a:lnTo>
                <a:lnTo>
                  <a:pt x="0" y="497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35264">
            <a:off x="-3596710" y="7362641"/>
            <a:ext cx="5702562" cy="6466823"/>
          </a:xfrm>
          <a:custGeom>
            <a:avLst/>
            <a:gdLst/>
            <a:ahLst/>
            <a:cxnLst/>
            <a:rect r="r" b="b" t="t" l="l"/>
            <a:pathLst>
              <a:path h="6466823" w="5702562">
                <a:moveTo>
                  <a:pt x="0" y="0"/>
                </a:moveTo>
                <a:lnTo>
                  <a:pt x="5702561" y="0"/>
                </a:lnTo>
                <a:lnTo>
                  <a:pt x="5702561" y="6466822"/>
                </a:lnTo>
                <a:lnTo>
                  <a:pt x="0" y="6466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314118">
            <a:off x="6077486" y="6033344"/>
            <a:ext cx="6016318" cy="6822629"/>
          </a:xfrm>
          <a:custGeom>
            <a:avLst/>
            <a:gdLst/>
            <a:ahLst/>
            <a:cxnLst/>
            <a:rect r="r" b="b" t="t" l="l"/>
            <a:pathLst>
              <a:path h="6822629" w="6016318">
                <a:moveTo>
                  <a:pt x="0" y="0"/>
                </a:moveTo>
                <a:lnTo>
                  <a:pt x="6016318" y="0"/>
                </a:lnTo>
                <a:lnTo>
                  <a:pt x="6016318" y="6822629"/>
                </a:lnTo>
                <a:lnTo>
                  <a:pt x="0" y="6822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597494" y="2448048"/>
          <a:ext cx="15093012" cy="6381750"/>
        </p:xfrm>
        <a:graphic>
          <a:graphicData uri="http://schemas.openxmlformats.org/drawingml/2006/table">
            <a:tbl>
              <a:tblPr/>
              <a:tblGrid>
                <a:gridCol w="7498434"/>
                <a:gridCol w="7594578"/>
              </a:tblGrid>
              <a:tr h="12456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b="true" sz="3999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Imp</a:t>
                      </a:r>
                      <a:r>
                        <a:rPr lang="en-US" b="true" sz="3999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252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15-40 patients per nurse in general wards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Vital signs checked only every 4-8 hours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Heavy documentation workload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Nurses spend less time at the bedside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27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ICU monitors unavailable in general wards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Long unmonitored windows between rounds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27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Patient deterioration can be gradual and silent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Early signs missed until acute crisis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237099"/>
            <a:ext cx="15188914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04"/>
              </a:lnSpc>
            </a:pPr>
            <a:r>
              <a:rPr lang="en-US" b="true" sz="62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The Mon</a:t>
            </a:r>
            <a:r>
              <a:rPr lang="en-US" b="true" sz="62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itoring Gap in Indian Hospital Wards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5745" y="9096333"/>
            <a:ext cx="15236511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spc="14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A pat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ient 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can de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teriorat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 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a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nd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r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cover -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 or not - between two manual r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ounds.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01486">
            <a:off x="12290109" y="1248869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14542">
            <a:off x="-4124265" y="-315167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455549"/>
            <a:ext cx="15945736" cy="5990848"/>
            <a:chOff x="0" y="0"/>
            <a:chExt cx="4199700" cy="1577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9700" cy="1577837"/>
            </a:xfrm>
            <a:custGeom>
              <a:avLst/>
              <a:gdLst/>
              <a:ahLst/>
              <a:cxnLst/>
              <a:rect r="r" b="b" t="t" l="l"/>
              <a:pathLst>
                <a:path h="1577837" w="4199700">
                  <a:moveTo>
                    <a:pt x="14565" y="0"/>
                  </a:moveTo>
                  <a:lnTo>
                    <a:pt x="4185135" y="0"/>
                  </a:lnTo>
                  <a:cubicBezTo>
                    <a:pt x="4193179" y="0"/>
                    <a:pt x="4199700" y="6521"/>
                    <a:pt x="4199700" y="14565"/>
                  </a:cubicBezTo>
                  <a:lnTo>
                    <a:pt x="4199700" y="1563271"/>
                  </a:lnTo>
                  <a:cubicBezTo>
                    <a:pt x="4199700" y="1571315"/>
                    <a:pt x="4193179" y="1577837"/>
                    <a:pt x="4185135" y="1577837"/>
                  </a:cubicBezTo>
                  <a:lnTo>
                    <a:pt x="14565" y="1577837"/>
                  </a:lnTo>
                  <a:cubicBezTo>
                    <a:pt x="6521" y="1577837"/>
                    <a:pt x="0" y="1571315"/>
                    <a:pt x="0" y="1563271"/>
                  </a:cubicBezTo>
                  <a:lnTo>
                    <a:pt x="0" y="14565"/>
                  </a:lnTo>
                  <a:cubicBezTo>
                    <a:pt x="0" y="6521"/>
                    <a:pt x="6521" y="0"/>
                    <a:pt x="1456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99700" cy="1625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5303" y="3559175"/>
            <a:ext cx="15919133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Sens</a:t>
            </a: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or Displacement -ECG leads and oximeter clips detach during sleep or movement, triggering false alarms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Skin Discomfort -Adhesive electrodes cause irritation and skin tears in elderly and pediatric patients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Alarm Fatigue -Frequent false disconnection alarms cause nursing staff to ignore monitor alerts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Maintenance Overhead -Cables require constant cleaning, untangling, and replacement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Incomplete Records -Detached sensors create gaps in continuous monitoring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4170" y="1436399"/>
            <a:ext cx="1437966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Why Co</a:t>
            </a: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ntact-Based Monitoring Has Limits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70073">
            <a:off x="13966277" y="-2197165"/>
            <a:ext cx="6016318" cy="6822629"/>
          </a:xfrm>
          <a:custGeom>
            <a:avLst/>
            <a:gdLst/>
            <a:ahLst/>
            <a:cxnLst/>
            <a:rect r="r" b="b" t="t" l="l"/>
            <a:pathLst>
              <a:path h="6822629" w="6016318">
                <a:moveTo>
                  <a:pt x="0" y="0"/>
                </a:moveTo>
                <a:lnTo>
                  <a:pt x="6016318" y="0"/>
                </a:lnTo>
                <a:lnTo>
                  <a:pt x="6016318" y="6822628"/>
                </a:lnTo>
                <a:lnTo>
                  <a:pt x="0" y="6822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666912"/>
            <a:ext cx="7742614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spc="14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The probl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em 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wi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 wire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s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 and patc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h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es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: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9246" y="763587"/>
            <a:ext cx="1652950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</a:pP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C</a:t>
            </a: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ontactless Systems Already Work - in Labs and Hospitals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79246" y="1598916"/>
          <a:ext cx="16529509" cy="8039100"/>
        </p:xfrm>
        <a:graphic>
          <a:graphicData uri="http://schemas.openxmlformats.org/drawingml/2006/table">
            <a:tbl>
              <a:tblPr/>
              <a:tblGrid>
                <a:gridCol w="3704540"/>
                <a:gridCol w="4560214"/>
                <a:gridCol w="3370233"/>
                <a:gridCol w="4894522"/>
              </a:tblGrid>
              <a:tr h="12441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Study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Key 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Patients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58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Padaki et al., Jan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Camera rPPG (smartphone/webcam)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HR RMSE 1.62 bpm · RR RMSE 1.71 bpm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111 ED patients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Shaya, Levy et al., Jun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 GHz Doppler Radar (TAMAR)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RR LOA ±1.6 bpm confirmed in real 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315 ED patients, 3 hospitals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Pitafi et al., Feb 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Geophone under mattress + Raspberry 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HR/RR MAE &lt; 2 bpm on edge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Synthetic + 75 human references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Chen et al.,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mmWave FMCW Radar (76–81 GHz)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Contactless chest displacement feasibility confirmed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Controlled lab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Lee, Kim &amp; Jeong, Aug 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Load cells on bed frame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96.26% fall/bed-exit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Healthy adults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4473" y="384175"/>
            <a:ext cx="15319055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</a:pP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Why Existing C</a:t>
            </a: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ontactless Systems Are Not the Answer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84473" y="1183226"/>
          <a:ext cx="15319055" cy="8815577"/>
        </p:xfrm>
        <a:graphic>
          <a:graphicData uri="http://schemas.openxmlformats.org/drawingml/2006/table">
            <a:tbl>
              <a:tblPr/>
              <a:tblGrid>
                <a:gridCol w="3739641"/>
                <a:gridCol w="3462977"/>
                <a:gridCol w="3969759"/>
                <a:gridCol w="4146677"/>
              </a:tblGrid>
              <a:tr h="19515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Requirement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Commercial Smart Beds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Single-Sensor Radar/Camera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Our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18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Cost per bed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₹10–50 lakh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₹5–15 lakh (full setup)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₹64,280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4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Works on existing beds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Replace entire bed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Requires fixed installation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✅ Retrofit any cot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4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Multiple sensing modalities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One sensor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✅ Five sensors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84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Handles movement/visitors/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blankets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 — silently fails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✅ Explicitly detects and flags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03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Accessible to resource-constrained wards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675" y="717233"/>
            <a:ext cx="11011079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The Si</a:t>
            </a: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lent Failure Problem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8675" y="2090955"/>
          <a:ext cx="16430625" cy="4895850"/>
        </p:xfrm>
        <a:graphic>
          <a:graphicData uri="http://schemas.openxmlformats.org/drawingml/2006/table">
            <a:tbl>
              <a:tblPr/>
              <a:tblGrid>
                <a:gridCol w="4620988"/>
                <a:gridCol w="5805858"/>
                <a:gridCol w="6003779"/>
              </a:tblGrid>
              <a:tr h="12479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Disturbance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the Sensor Sees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It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63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Patient turns over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Radar phase noise spike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Reports erratic RR — may look like tachypnea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15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Visitor sits on the bed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Radar detects visitor's breathing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Reports visitor's RR as patient's RR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Thick blanket covers patient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Thermal camera reads blanket surface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Reports ambient temperature as body temperature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28675" y="1547946"/>
            <a:ext cx="12944992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spc="14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What happ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ens when a single sensor is disturbed: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05880"/>
            <a:ext cx="16230600" cy="122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3502" spc="14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This is th</a:t>
            </a: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e silent failure problem:</a:t>
            </a:r>
          </a:p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3502" spc="14" strike="noStrike" u="none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The sensor produces a plausible-looking but clinically wrong number - with no warning.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63834"/>
            <a:ext cx="16230600" cy="122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i="true" spc="14">
                <a:solidFill>
                  <a:srgbClr val="2A2E3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"A sensor tha</a:t>
            </a:r>
            <a:r>
              <a:rPr lang="en-US" b="true" sz="3502" i="true" spc="14" strike="noStrike" u="none">
                <a:solidFill>
                  <a:srgbClr val="2A2E3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t fails loudly is safe. A sensor that fails silently is dangerous."</a:t>
            </a:r>
          </a:p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3502" i="true" spc="14" strike="noStrike" u="none">
                <a:solidFill>
                  <a:srgbClr val="2A2E30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— TAMAR 315-patient trial (Shaya et al., Jun 2026): 30% of measurements were invalid under real conditions.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84346"/>
            <a:ext cx="1527768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</a:pP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Our Approach: The Hospita</a:t>
            </a: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l Bed as a Sensing Platform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956619" y="1606494"/>
          <a:ext cx="9302681" cy="7651806"/>
        </p:xfrm>
        <a:graphic>
          <a:graphicData uri="http://schemas.openxmlformats.org/drawingml/2006/table">
            <a:tbl>
              <a:tblPr/>
              <a:tblGrid>
                <a:gridCol w="4244733"/>
                <a:gridCol w="5057948"/>
              </a:tblGrid>
              <a:tr h="12444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18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60 GHz mmWave Radar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Headboard, facing patient chest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0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Geophone (BCG vibration sensor)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Under the mattress, beneath upper torso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Pressure Matrix (12×12 grid)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On the mattress surface, under a thin sheet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93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4× Load Cells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Under each bed leg, inside footpad plates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Thermal Camera + Point IR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Overhead arm (1.2 m) + headboard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028700" y="1606494"/>
            <a:ext cx="6573850" cy="7651806"/>
            <a:chOff x="0" y="0"/>
            <a:chExt cx="1731384" cy="20152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1384" cy="2015291"/>
            </a:xfrm>
            <a:custGeom>
              <a:avLst/>
              <a:gdLst/>
              <a:ahLst/>
              <a:cxnLst/>
              <a:rect r="r" b="b" t="t" l="l"/>
              <a:pathLst>
                <a:path h="2015291" w="1731384">
                  <a:moveTo>
                    <a:pt x="35331" y="0"/>
                  </a:moveTo>
                  <a:lnTo>
                    <a:pt x="1696054" y="0"/>
                  </a:lnTo>
                  <a:cubicBezTo>
                    <a:pt x="1715566" y="0"/>
                    <a:pt x="1731384" y="15818"/>
                    <a:pt x="1731384" y="35331"/>
                  </a:cubicBezTo>
                  <a:lnTo>
                    <a:pt x="1731384" y="1979960"/>
                  </a:lnTo>
                  <a:cubicBezTo>
                    <a:pt x="1731384" y="1999473"/>
                    <a:pt x="1715566" y="2015291"/>
                    <a:pt x="1696054" y="2015291"/>
                  </a:cubicBezTo>
                  <a:lnTo>
                    <a:pt x="35331" y="2015291"/>
                  </a:lnTo>
                  <a:cubicBezTo>
                    <a:pt x="25960" y="2015291"/>
                    <a:pt x="16974" y="2011568"/>
                    <a:pt x="10348" y="2004943"/>
                  </a:cubicBezTo>
                  <a:cubicBezTo>
                    <a:pt x="3722" y="1998317"/>
                    <a:pt x="0" y="1989330"/>
                    <a:pt x="0" y="1979960"/>
                  </a:cubicBezTo>
                  <a:lnTo>
                    <a:pt x="0" y="35331"/>
                  </a:lnTo>
                  <a:cubicBezTo>
                    <a:pt x="0" y="25960"/>
                    <a:pt x="3722" y="16974"/>
                    <a:pt x="10348" y="10348"/>
                  </a:cubicBezTo>
                  <a:cubicBezTo>
                    <a:pt x="16974" y="3722"/>
                    <a:pt x="25960" y="0"/>
                    <a:pt x="3533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31384" cy="2062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9483" y="2052855"/>
            <a:ext cx="5852284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The Re</a:t>
            </a:r>
            <a:r>
              <a:rPr lang="en-US" b="true" sz="3999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trofit Concept: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30736"/>
            <a:ext cx="5929255" cy="611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800" indent="-404900" lvl="1">
              <a:lnSpc>
                <a:spcPts val="4876"/>
              </a:lnSpc>
              <a:buFont typeface="Arial"/>
              <a:buChar char="•"/>
            </a:pPr>
            <a:r>
              <a:rPr lang="en-US" sz="3750" spc="15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r>
              <a:rPr lang="en-US" sz="3750" spc="15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o new beds required — sensors attach to any existing single-person metal cot</a:t>
            </a:r>
          </a:p>
          <a:p>
            <a:pPr algn="l" marL="809800" indent="-404900" lvl="1">
              <a:lnSpc>
                <a:spcPts val="4876"/>
              </a:lnSpc>
              <a:buFont typeface="Arial"/>
              <a:buChar char="•"/>
            </a:pPr>
            <a:r>
              <a:rPr lang="en-US" sz="3750" spc="15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Zero leads or patches on the patient</a:t>
            </a:r>
          </a:p>
          <a:p>
            <a:pPr algn="l" marL="809800" indent="-404900" lvl="1">
              <a:lnSpc>
                <a:spcPts val="4876"/>
              </a:lnSpc>
              <a:buFont typeface="Arial"/>
              <a:buChar char="•"/>
            </a:pPr>
            <a:r>
              <a:rPr lang="en-US" sz="3750" spc="15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Zero change to nursing workflow</a:t>
            </a:r>
          </a:p>
          <a:p>
            <a:pPr algn="l" marL="809800" indent="-404900" lvl="1">
              <a:lnSpc>
                <a:spcPts val="4876"/>
              </a:lnSpc>
              <a:buFont typeface="Arial"/>
              <a:buChar char="•"/>
            </a:pPr>
            <a:r>
              <a:rPr lang="en-US" sz="3750" spc="15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Five sensors, each placed unobtrusively: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60276" y="9544050"/>
            <a:ext cx="11414537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i="true" spc="14">
                <a:solidFill>
                  <a:srgbClr val="2A2E3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Th</a:t>
            </a:r>
            <a:r>
              <a:rPr lang="en-US" b="true" sz="3502" i="true" spc="14" strike="noStrike" u="none">
                <a:solidFill>
                  <a:srgbClr val="2A2E30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e bed becomes the sensor. The patient simply lies down.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675" y="589096"/>
            <a:ext cx="1654566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0"/>
              </a:lnSpc>
            </a:pP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Five Sensors — Three Independ</a:t>
            </a:r>
            <a:r>
              <a:rPr lang="en-US" b="true" sz="5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ent Measurement Pathways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8675" y="1433646"/>
            <a:ext cx="12944992" cy="42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3502" spc="14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Three indep</a:t>
            </a:r>
            <a:r>
              <a:rPr lang="en-US" b="true" sz="3502" spc="14" strike="noStrike" u="none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endent ways to measure breathing and heartbeat: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33578" y="1595613"/>
            <a:ext cx="10011315" cy="8807045"/>
          </a:xfrm>
          <a:custGeom>
            <a:avLst/>
            <a:gdLst/>
            <a:ahLst/>
            <a:cxnLst/>
            <a:rect r="r" b="b" t="t" l="l"/>
            <a:pathLst>
              <a:path h="8807045" w="10011315">
                <a:moveTo>
                  <a:pt x="0" y="0"/>
                </a:moveTo>
                <a:lnTo>
                  <a:pt x="10011315" y="0"/>
                </a:lnTo>
                <a:lnTo>
                  <a:pt x="10011315" y="8807045"/>
                </a:lnTo>
                <a:lnTo>
                  <a:pt x="0" y="8807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08" r="-6157" b="-1324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88111" y="3377017"/>
            <a:ext cx="9699889" cy="5434646"/>
          </a:xfrm>
          <a:custGeom>
            <a:avLst/>
            <a:gdLst/>
            <a:ahLst/>
            <a:cxnLst/>
            <a:rect r="r" b="b" t="t" l="l"/>
            <a:pathLst>
              <a:path h="5434646" w="9699889">
                <a:moveTo>
                  <a:pt x="0" y="0"/>
                </a:moveTo>
                <a:lnTo>
                  <a:pt x="9699889" y="0"/>
                </a:lnTo>
                <a:lnTo>
                  <a:pt x="9699889" y="5434647"/>
                </a:lnTo>
                <a:lnTo>
                  <a:pt x="0" y="5434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1092" r="-11844" b="-21849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395" y="412750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Hardware Architec</a:t>
            </a: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1677" y="-2224454"/>
            <a:ext cx="6274296" cy="13256035"/>
          </a:xfrm>
          <a:custGeom>
            <a:avLst/>
            <a:gdLst/>
            <a:ahLst/>
            <a:cxnLst/>
            <a:rect r="r" b="b" t="t" l="l"/>
            <a:pathLst>
              <a:path h="13256035" w="6274296">
                <a:moveTo>
                  <a:pt x="0" y="0"/>
                </a:moveTo>
                <a:lnTo>
                  <a:pt x="6274296" y="0"/>
                </a:lnTo>
                <a:lnTo>
                  <a:pt x="6274296" y="13256036"/>
                </a:lnTo>
                <a:lnTo>
                  <a:pt x="0" y="13256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3" r="0" b="-7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6778" y="1028700"/>
            <a:ext cx="11566134" cy="9258300"/>
          </a:xfrm>
          <a:custGeom>
            <a:avLst/>
            <a:gdLst/>
            <a:ahLst/>
            <a:cxnLst/>
            <a:rect r="r" b="b" t="t" l="l"/>
            <a:pathLst>
              <a:path h="9258300" w="11566134">
                <a:moveTo>
                  <a:pt x="0" y="0"/>
                </a:moveTo>
                <a:lnTo>
                  <a:pt x="11566134" y="0"/>
                </a:lnTo>
                <a:lnTo>
                  <a:pt x="115661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399" t="0" r="-18437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675" y="467811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Components and Their Roles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8675" y="1233621"/>
          <a:ext cx="16430625" cy="8923337"/>
        </p:xfrm>
        <a:graphic>
          <a:graphicData uri="http://schemas.openxmlformats.org/drawingml/2006/table">
            <a:tbl>
              <a:tblPr/>
              <a:tblGrid>
                <a:gridCol w="4490456"/>
                <a:gridCol w="11940169"/>
              </a:tblGrid>
              <a:tr h="12435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5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Raspberry Pi 5 (8 GB)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Edge compute: signal processing, fusion engine, FastAPI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ESP32 WROOM-32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MCU: multiplexes pressure matrix (12×12), reads load cells, publishes via MQTT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ADS1115 ×2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16-bit ADC for geophone and pressure matrix analog signals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CD74HC4067 Mux ×3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Scans 12×12 pressure matrix grid (144 cells)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HX711 ×2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24-bit ADC for 4 load cells (2 full-bridge pairs)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22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 V 5 A Supply + LM2596 ×3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Regulated 5 V and 3.3 V rails for MCU and sensor subsystems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675" y="617671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Software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0603" y="1233621"/>
            <a:ext cx="19369206" cy="7956449"/>
          </a:xfrm>
          <a:custGeom>
            <a:avLst/>
            <a:gdLst/>
            <a:ahLst/>
            <a:cxnLst/>
            <a:rect r="r" b="b" t="t" l="l"/>
            <a:pathLst>
              <a:path h="7956449" w="19369206">
                <a:moveTo>
                  <a:pt x="0" y="0"/>
                </a:moveTo>
                <a:lnTo>
                  <a:pt x="19369206" y="0"/>
                </a:lnTo>
                <a:lnTo>
                  <a:pt x="19369206" y="7956449"/>
                </a:lnTo>
                <a:lnTo>
                  <a:pt x="0" y="7956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211" r="0" b="-5704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7232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Data Flow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267570"/>
          <a:ext cx="16230600" cy="6762750"/>
        </p:xfrm>
        <a:graphic>
          <a:graphicData uri="http://schemas.openxmlformats.org/drawingml/2006/table">
            <a:tbl>
              <a:tblPr/>
              <a:tblGrid>
                <a:gridCol w="4290089"/>
                <a:gridCol w="11940511"/>
              </a:tblGrid>
              <a:tr h="12452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Happens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Ingestion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ESP32 MQTT + Radar UART + Thermal I2C + Geophone ADC → raw data collected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Signal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FFT (radar RR), dual bandpass (geophone RR + HR), centroid calculation (pressure)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Fusion Engine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Confidence state machine — occupancy, visitor, motion, blanket, 3-way agreement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SQLite database, flushed every 30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FastAPI WebSocket streams live data to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Nurse-facing single-bed view + Phase 2 ward queue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778" y="412750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The Confidence-Aware Fusion Engine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63" y="1333500"/>
          <a:ext cx="18286837" cy="8953500"/>
        </p:xfrm>
        <a:graphic>
          <a:graphicData uri="http://schemas.openxmlformats.org/drawingml/2006/table">
            <a:tbl>
              <a:tblPr/>
              <a:tblGrid>
                <a:gridCol w="1620688"/>
                <a:gridCol w="3548029"/>
                <a:gridCol w="4698491"/>
                <a:gridCol w="8419629"/>
              </a:tblGrid>
              <a:tr h="1243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Step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Rule / Check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Trigger Condition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Resulting System State &amp; 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58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Occupancy Check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Load cells ≤ Tare weight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🔴 Bed Unoccupied — Suppress all physiological outputs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Visitor Gate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Weight delta &gt; 30 kg OR 2nd centroid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🟠 Visitor Detected — Suppress vitals, raise alert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Motion Gate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Pressure grid temporal change &gt; threshold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🟡 Patient Moving — Pause radar &amp; geophone RR (30 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Blanket Gate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Thermal contrast index &lt; 0.3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🟡 Body Obscured — Suspend temperature reading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3-Way Agreement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Radar RR &amp; Geophone RR agree within ±2 bpm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🟢 High Confidence — Publish all validated vitals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8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Pathway Disagreement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Radar RR &amp; Geophone RR disagree &gt;2 bpm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🟡 Low Confidence — Publish vitals with warning flag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778" y="383360"/>
            <a:ext cx="952391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From One </a:t>
            </a: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Bed to a Ward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26778" y="2804644"/>
          <a:ext cx="10684559" cy="7049186"/>
        </p:xfrm>
        <a:graphic>
          <a:graphicData uri="http://schemas.openxmlformats.org/drawingml/2006/table">
            <a:tbl>
              <a:tblPr/>
              <a:tblGrid>
                <a:gridCol w="4088215"/>
                <a:gridCol w="6596344"/>
              </a:tblGrid>
              <a:tr h="1953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Scenario 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the prototype recorded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19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quiet_rest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Still patient, stable RR, normal temperature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elevated_rr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RR elevated &gt;20% above personal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sustained_pressure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Same body region under load &gt; 2 hours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bed_exit_attempt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Load cell weight dropping, centroid at edge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80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visitor_present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Weight delta +30 kg, second pressure centroid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084531" y="520808"/>
            <a:ext cx="6753771" cy="9333023"/>
            <a:chOff x="0" y="0"/>
            <a:chExt cx="1778771" cy="245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771" cy="2458080"/>
            </a:xfrm>
            <a:custGeom>
              <a:avLst/>
              <a:gdLst/>
              <a:ahLst/>
              <a:cxnLst/>
              <a:rect r="r" b="b" t="t" l="l"/>
              <a:pathLst>
                <a:path h="2458080" w="1778771">
                  <a:moveTo>
                    <a:pt x="34389" y="0"/>
                  </a:moveTo>
                  <a:lnTo>
                    <a:pt x="1744382" y="0"/>
                  </a:lnTo>
                  <a:cubicBezTo>
                    <a:pt x="1753502" y="0"/>
                    <a:pt x="1762249" y="3623"/>
                    <a:pt x="1768698" y="10072"/>
                  </a:cubicBezTo>
                  <a:cubicBezTo>
                    <a:pt x="1775148" y="16522"/>
                    <a:pt x="1778771" y="25269"/>
                    <a:pt x="1778771" y="34389"/>
                  </a:cubicBezTo>
                  <a:lnTo>
                    <a:pt x="1778771" y="2423691"/>
                  </a:lnTo>
                  <a:cubicBezTo>
                    <a:pt x="1778771" y="2432811"/>
                    <a:pt x="1775148" y="2441558"/>
                    <a:pt x="1768698" y="2448008"/>
                  </a:cubicBezTo>
                  <a:cubicBezTo>
                    <a:pt x="1762249" y="2454457"/>
                    <a:pt x="1753502" y="2458080"/>
                    <a:pt x="1744382" y="2458080"/>
                  </a:cubicBezTo>
                  <a:lnTo>
                    <a:pt x="34389" y="2458080"/>
                  </a:lnTo>
                  <a:cubicBezTo>
                    <a:pt x="25269" y="2458080"/>
                    <a:pt x="16522" y="2454457"/>
                    <a:pt x="10072" y="2448008"/>
                  </a:cubicBezTo>
                  <a:cubicBezTo>
                    <a:pt x="3623" y="2441558"/>
                    <a:pt x="0" y="2432811"/>
                    <a:pt x="0" y="2423691"/>
                  </a:cubicBezTo>
                  <a:lnTo>
                    <a:pt x="0" y="34389"/>
                  </a:lnTo>
                  <a:cubicBezTo>
                    <a:pt x="0" y="25269"/>
                    <a:pt x="3623" y="16522"/>
                    <a:pt x="10072" y="10072"/>
                  </a:cubicBezTo>
                  <a:cubicBezTo>
                    <a:pt x="16522" y="3623"/>
                    <a:pt x="25269" y="0"/>
                    <a:pt x="3438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78771" cy="250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330045" y="766870"/>
            <a:ext cx="6267255" cy="884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393" indent="-366196" lvl="1">
              <a:lnSpc>
                <a:spcPts val="4409"/>
              </a:lnSpc>
              <a:buFont typeface="Arial"/>
              <a:buChar char="•"/>
            </a:pPr>
            <a:r>
              <a:rPr lang="en-US" sz="3392" spc="13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These recordings are synthetically composed into multi-bed ward snapshots.</a:t>
            </a:r>
          </a:p>
          <a:p>
            <a:pPr algn="l" marL="732393" indent="-366196" lvl="1">
              <a:lnSpc>
                <a:spcPts val="4409"/>
              </a:lnSpc>
              <a:buFont typeface="Arial"/>
              <a:buChar char="•"/>
            </a:pPr>
            <a:r>
              <a:rPr lang="en-US" sz="3392" spc="13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An </a:t>
            </a:r>
            <a:r>
              <a:rPr lang="en-US" b="true" sz="3392" spc="13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XGBoost classifier</a:t>
            </a:r>
            <a:r>
              <a:rPr lang="en-US" sz="3392" spc="13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 is trained on the snapshots to rank patient priority.</a:t>
            </a:r>
          </a:p>
          <a:p>
            <a:pPr algn="l" marL="732393" indent="-366196" lvl="1">
              <a:lnSpc>
                <a:spcPts val="4409"/>
              </a:lnSpc>
              <a:buFont typeface="Arial"/>
              <a:buChar char="•"/>
            </a:pPr>
            <a:r>
              <a:rPr lang="en-US" b="true" sz="3392" spc="13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SHAP</a:t>
            </a:r>
            <a:r>
              <a:rPr lang="en-US" sz="3392" spc="13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 generates a readable explanation for every decision:</a:t>
            </a:r>
          </a:p>
          <a:p>
            <a:pPr algn="just">
              <a:lnSpc>
                <a:spcPts val="4409"/>
              </a:lnSpc>
            </a:pPr>
          </a:p>
          <a:p>
            <a:pPr algn="just">
              <a:lnSpc>
                <a:spcPts val="4409"/>
              </a:lnSpc>
            </a:pPr>
            <a:r>
              <a:rPr lang="en-US" sz="3392" spc="13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"Bed 3 — HIGH PRIORITY: Elevated RR +35% above baseline (High Confidence) → +0.42 · Sustained sacral pressure 2.2 h → +0.31 · Surface temp +0.7°C → +0.18"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6778" y="1215845"/>
            <a:ext cx="8345463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Phase 2: S</a:t>
            </a:r>
            <a:r>
              <a:rPr lang="en-US" b="true" sz="3999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oftware Ward Simulation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778" y="1898470"/>
            <a:ext cx="1107010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The single-bed prototype c</a:t>
            </a: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ollects real, labelled scenario recordings: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92162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What the Dashboard Tells Nurses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333197"/>
          <a:ext cx="16230600" cy="6770539"/>
        </p:xfrm>
        <a:graphic>
          <a:graphicData uri="http://schemas.openxmlformats.org/drawingml/2006/table">
            <a:tbl>
              <a:tblPr/>
              <a:tblGrid>
                <a:gridCol w="4390336"/>
                <a:gridCol w="11840264"/>
              </a:tblGrid>
              <a:tr h="1245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Display Element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It Shows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274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Occupancy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Occupied / Unoccupied (green / grey)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Body Position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Supine / Left Lateral / Right Lateral / Seated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Respiratory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e.g. 16 bpm 🟢 High Confidence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Surface Temperature Trend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e.g. +0.4°C over last 60 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Movement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Low / Medium /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9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Active Alerts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e.g. "Patient stationary 3 hours — check pressure risk"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680155"/>
            <a:ext cx="147456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Single-Bed Vi</a:t>
            </a: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ew (Phase 1):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0370"/>
            <a:ext cx="16545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What the Dashboard Tells Nurses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3207095"/>
          <a:ext cx="16230600" cy="4895850"/>
        </p:xfrm>
        <a:graphic>
          <a:graphicData uri="http://schemas.openxmlformats.org/drawingml/2006/table">
            <a:tbl>
              <a:tblPr/>
              <a:tblGrid>
                <a:gridCol w="1785412"/>
                <a:gridCol w="4815063"/>
                <a:gridCol w="4815063"/>
                <a:gridCol w="4815063"/>
              </a:tblGrid>
              <a:tr h="12479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Priority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363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Bed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Occupied, Supine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🔴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Elevated RR + sustained pressure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Bed 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Occupied, Moving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🟡 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Patient restless — readings paused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15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Bed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Occupied, Supine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🟢 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Stable, all sensors agree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2363995"/>
            <a:ext cx="147456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Ward Priority Vi</a:t>
            </a: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ew (Phase 2):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39200"/>
            <a:ext cx="1500264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No diagnostic claims. A</a:t>
            </a:r>
            <a:r>
              <a:rPr lang="en-US" sz="3000">
                <a:solidFill>
                  <a:srgbClr val="2A2E30"/>
                </a:solidFill>
                <a:latin typeface="Barlow"/>
                <a:ea typeface="Barlow"/>
                <a:cs typeface="Barlow"/>
                <a:sym typeface="Barlow"/>
              </a:rPr>
              <a:t>ll outputs are observational alerts, not medical judgements.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507" y="491263"/>
            <a:ext cx="18211483" cy="71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4"/>
              </a:lnSpc>
            </a:pPr>
            <a:r>
              <a:rPr lang="en-US" b="true" sz="57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Evidence, Research Novelty,  &amp; Expect</a:t>
            </a:r>
            <a:r>
              <a:rPr lang="en-US" b="true" sz="57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ed Contribution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3263824" y="158348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194381" y="2494809"/>
            <a:ext cx="6753771" cy="5648249"/>
            <a:chOff x="0" y="0"/>
            <a:chExt cx="9005027" cy="753099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005027" cy="7166373"/>
              <a:chOff x="0" y="0"/>
              <a:chExt cx="1778771" cy="14155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78771" cy="1415580"/>
              </a:xfrm>
              <a:custGeom>
                <a:avLst/>
                <a:gdLst/>
                <a:ahLst/>
                <a:cxnLst/>
                <a:rect r="r" b="b" t="t" l="l"/>
                <a:pathLst>
                  <a:path h="1415580" w="1778771">
                    <a:moveTo>
                      <a:pt x="34389" y="0"/>
                    </a:moveTo>
                    <a:lnTo>
                      <a:pt x="1744382" y="0"/>
                    </a:lnTo>
                    <a:cubicBezTo>
                      <a:pt x="1753502" y="0"/>
                      <a:pt x="1762249" y="3623"/>
                      <a:pt x="1768698" y="10072"/>
                    </a:cubicBezTo>
                    <a:cubicBezTo>
                      <a:pt x="1775148" y="16522"/>
                      <a:pt x="1778771" y="25269"/>
                      <a:pt x="1778771" y="34389"/>
                    </a:cubicBezTo>
                    <a:lnTo>
                      <a:pt x="1778771" y="1381190"/>
                    </a:lnTo>
                    <a:cubicBezTo>
                      <a:pt x="1778771" y="1390311"/>
                      <a:pt x="1775148" y="1399058"/>
                      <a:pt x="1768698" y="1405507"/>
                    </a:cubicBezTo>
                    <a:cubicBezTo>
                      <a:pt x="1762249" y="1411957"/>
                      <a:pt x="1753502" y="1415580"/>
                      <a:pt x="1744382" y="1415580"/>
                    </a:cubicBezTo>
                    <a:lnTo>
                      <a:pt x="34389" y="1415580"/>
                    </a:lnTo>
                    <a:cubicBezTo>
                      <a:pt x="25269" y="1415580"/>
                      <a:pt x="16522" y="1411957"/>
                      <a:pt x="10072" y="1405507"/>
                    </a:cubicBezTo>
                    <a:cubicBezTo>
                      <a:pt x="3623" y="1399058"/>
                      <a:pt x="0" y="1390311"/>
                      <a:pt x="0" y="1381190"/>
                    </a:cubicBezTo>
                    <a:lnTo>
                      <a:pt x="0" y="34389"/>
                    </a:lnTo>
                    <a:cubicBezTo>
                      <a:pt x="0" y="25269"/>
                      <a:pt x="3623" y="16522"/>
                      <a:pt x="10072" y="10072"/>
                    </a:cubicBezTo>
                    <a:cubicBezTo>
                      <a:pt x="16522" y="3623"/>
                      <a:pt x="25269" y="0"/>
                      <a:pt x="343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3B6261">
                        <a:alpha val="100000"/>
                      </a:srgbClr>
                    </a:gs>
                    <a:gs pos="100000">
                      <a:srgbClr val="6F9F97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778771" cy="14632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27352" y="353483"/>
              <a:ext cx="8157437" cy="7177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4"/>
                </a:lnSpc>
              </a:pPr>
              <a:r>
                <a:rPr lang="en-US" sz="3311" spc="13" b="true">
                  <a:solidFill>
                    <a:srgbClr val="2A2E3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Expected outputs:</a:t>
              </a:r>
            </a:p>
            <a:p>
              <a:pPr algn="l" marL="714960" indent="-357480" lvl="1">
                <a:lnSpc>
                  <a:spcPts val="4304"/>
                </a:lnSpc>
                <a:buFont typeface="Arial"/>
                <a:buChar char="•"/>
              </a:pPr>
              <a:r>
                <a:rPr lang="en-US" sz="3311" spc="13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Validated single-bed prototype with documented sensor accuracy</a:t>
              </a:r>
            </a:p>
            <a:p>
              <a:pPr algn="l" marL="714960" indent="-357480" lvl="1">
                <a:lnSpc>
                  <a:spcPts val="4304"/>
                </a:lnSpc>
                <a:buFont typeface="Arial"/>
                <a:buChar char="•"/>
              </a:pPr>
              <a:r>
                <a:rPr lang="en-US" sz="3311" spc="13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Labelled scenario dataset from 10 volunteer sessions</a:t>
              </a:r>
            </a:p>
            <a:p>
              <a:pPr algn="l" marL="714960" indent="-357480" lvl="1">
                <a:lnSpc>
                  <a:spcPts val="4304"/>
                </a:lnSpc>
                <a:buFont typeface="Arial"/>
                <a:buChar char="•"/>
              </a:pPr>
              <a:r>
                <a:rPr lang="en-US" sz="3311" spc="13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SHAP-explainable multi-patient simulation model</a:t>
              </a:r>
            </a:p>
            <a:p>
              <a:pPr algn="l" marL="714960" indent="-357480" lvl="1">
                <a:lnSpc>
                  <a:spcPts val="4304"/>
                </a:lnSpc>
                <a:buFont typeface="Arial"/>
                <a:buChar char="•"/>
              </a:pPr>
              <a:r>
                <a:rPr lang="en-US" sz="3311" spc="13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Conference / journal paper</a:t>
              </a:r>
            </a:p>
            <a:p>
              <a:pPr algn="l">
                <a:lnSpc>
                  <a:spcPts val="430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80995" y="1446430"/>
            <a:ext cx="9142253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true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Built </a:t>
            </a:r>
            <a:r>
              <a:rPr lang="en-US" b="true" sz="3999">
                <a:solidFill>
                  <a:srgbClr val="2A2E3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on recent peer-reviewed evidence: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26778" y="2153569"/>
          <a:ext cx="10546950" cy="5818039"/>
        </p:xfrm>
        <a:graphic>
          <a:graphicData uri="http://schemas.openxmlformats.org/drawingml/2006/table">
            <a:tbl>
              <a:tblPr/>
              <a:tblGrid>
                <a:gridCol w="3890650"/>
                <a:gridCol w="6656300"/>
              </a:tblGrid>
              <a:tr h="12464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28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Lee et al. (Aug 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Load cells: 96.26% bed-exit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4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Pitafi et al. (Feb 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Geophone BCG on Raspberry Pi: MAE &lt; 2 bpm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Shaya et al. (Jun 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315-patient radar trial — 30% silent failure justifies our fusion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Reyes et al.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Multi-patient radar unsolved — justifies our simulation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226778" y="8143058"/>
            <a:ext cx="17721373" cy="1777324"/>
            <a:chOff x="0" y="0"/>
            <a:chExt cx="23628498" cy="236976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3628498" cy="2369765"/>
              <a:chOff x="0" y="0"/>
              <a:chExt cx="5636464" cy="5652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636464" cy="565296"/>
              </a:xfrm>
              <a:custGeom>
                <a:avLst/>
                <a:gdLst/>
                <a:ahLst/>
                <a:cxnLst/>
                <a:rect r="r" b="b" t="t" l="l"/>
                <a:pathLst>
                  <a:path h="565296" w="5636464">
                    <a:moveTo>
                      <a:pt x="10853" y="0"/>
                    </a:moveTo>
                    <a:lnTo>
                      <a:pt x="5625612" y="0"/>
                    </a:lnTo>
                    <a:cubicBezTo>
                      <a:pt x="5631605" y="0"/>
                      <a:pt x="5636464" y="4859"/>
                      <a:pt x="5636464" y="10853"/>
                    </a:cubicBezTo>
                    <a:lnTo>
                      <a:pt x="5636464" y="554443"/>
                    </a:lnTo>
                    <a:cubicBezTo>
                      <a:pt x="5636464" y="557322"/>
                      <a:pt x="5635321" y="560082"/>
                      <a:pt x="5633286" y="562117"/>
                    </a:cubicBezTo>
                    <a:cubicBezTo>
                      <a:pt x="5631250" y="564153"/>
                      <a:pt x="5628490" y="565296"/>
                      <a:pt x="5625612" y="565296"/>
                    </a:cubicBezTo>
                    <a:lnTo>
                      <a:pt x="10853" y="565296"/>
                    </a:lnTo>
                    <a:cubicBezTo>
                      <a:pt x="7974" y="565296"/>
                      <a:pt x="5214" y="564153"/>
                      <a:pt x="3179" y="562117"/>
                    </a:cubicBezTo>
                    <a:cubicBezTo>
                      <a:pt x="1143" y="560082"/>
                      <a:pt x="0" y="557322"/>
                      <a:pt x="0" y="554443"/>
                    </a:cubicBezTo>
                    <a:lnTo>
                      <a:pt x="0" y="10853"/>
                    </a:lnTo>
                    <a:cubicBezTo>
                      <a:pt x="0" y="7974"/>
                      <a:pt x="1143" y="5214"/>
                      <a:pt x="3179" y="3179"/>
                    </a:cubicBezTo>
                    <a:cubicBezTo>
                      <a:pt x="5214" y="1143"/>
                      <a:pt x="7974" y="0"/>
                      <a:pt x="108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3B6261">
                        <a:alpha val="100000"/>
                      </a:srgbClr>
                    </a:gs>
                    <a:gs pos="100000">
                      <a:srgbClr val="6F9F97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5636464" cy="6129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858947" y="295681"/>
              <a:ext cx="21926392" cy="1812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51"/>
                </a:lnSpc>
              </a:pP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"No study has demonstrated a system u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nder ₹65,000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 c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omb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i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ning three independent physiological pathways with explicit confidence-aware interference detection an</a:t>
              </a:r>
              <a:r>
                <a:rPr lang="en-US" sz="2809" spc="11">
                  <a:solidFill>
                    <a:srgbClr val="2A2E30"/>
                  </a:solidFill>
                  <a:latin typeface="Barlow"/>
                  <a:ea typeface="Barlow"/>
                  <a:cs typeface="Barlow"/>
                  <a:sym typeface="Barlow"/>
                </a:rPr>
                <a:t>d simulation-based explainable ward prioritisation."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880" y="470271"/>
            <a:ext cx="10613443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6000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Budget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201486">
            <a:off x="12944696" y="1172239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684328" y="-2887658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0" y="1527348"/>
          <a:ext cx="11583579" cy="8334375"/>
        </p:xfrm>
        <a:graphic>
          <a:graphicData uri="http://schemas.openxmlformats.org/drawingml/2006/table">
            <a:tbl>
              <a:tblPr/>
              <a:tblGrid>
                <a:gridCol w="2641479"/>
                <a:gridCol w="6459743"/>
                <a:gridCol w="2482356"/>
              </a:tblGrid>
              <a:tr h="10429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Amount (₹)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345C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Components Included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588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Core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40,465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RPi 5 8GB (₹20k), Radar, Geophone, Velostat matrix, Load cells, MLX90640, MLX90614, ESP32, ADCs, Muxes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Prototype Fabrication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10,160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Cot frame, foam mattress, headboard radar mount, overhead camera arm, footpads, enclosures, wiring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Data &amp; Experimentation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3,350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Calibration weights (5 kg), EVA foam, thermal target, ref thermometer, USB fan, forms &amp; hygiene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5,750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Reference stopwatch, volunteer honoraria, ethics printing, backup drive + conditional ref instruments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2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Contingency (~8%)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4,555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Component failures, price variation &amp; shipping buffer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0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Total (Worst Case)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₹64,280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Full 5-sensor AI research prototype expenditure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40099" y="1630065"/>
            <a:ext cx="10743164" cy="8883431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291582">
            <a:off x="13155984" y="-1306306"/>
            <a:ext cx="5476897" cy="6210915"/>
          </a:xfrm>
          <a:custGeom>
            <a:avLst/>
            <a:gdLst/>
            <a:ahLst/>
            <a:cxnLst/>
            <a:rect r="r" b="b" t="t" l="l"/>
            <a:pathLst>
              <a:path h="6210915" w="5476897">
                <a:moveTo>
                  <a:pt x="0" y="0"/>
                </a:moveTo>
                <a:lnTo>
                  <a:pt x="5476898" y="0"/>
                </a:lnTo>
                <a:lnTo>
                  <a:pt x="5476898" y="6210915"/>
                </a:lnTo>
                <a:lnTo>
                  <a:pt x="0" y="6210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477954"/>
            <a:ext cx="11975624" cy="60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81"/>
              </a:lnSpc>
            </a:pPr>
            <a:r>
              <a:rPr lang="en-US" b="true" sz="25423">
                <a:solidFill>
                  <a:srgbClr val="2A2E30"/>
                </a:solidFill>
                <a:latin typeface="Barlow Bold"/>
                <a:ea typeface="Barlow Bold"/>
                <a:cs typeface="Barlow Bold"/>
                <a:sym typeface="Barlow Bold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DAHTaJfmsEI</dc:identifier>
  <dcterms:modified xsi:type="dcterms:W3CDTF">2011-08-01T06:04:30Z</dcterms:modified>
  <cp:revision>1</cp:revision>
  <dc:title>AI-Powered Multimodal Contactless Patient Monitoring System</dc:title>
</cp:coreProperties>
</file>